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1" r:id="rId8"/>
    <p:sldId id="270" r:id="rId9"/>
    <p:sldId id="272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66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11/25/2025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11/25/2025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11/25/2025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11/25/2025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11/25/2025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31005" y="2292094"/>
            <a:ext cx="7401829" cy="2219691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Audible Insights: Intelligent Book Recommendations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0CB7D1F-5FC6-6406-387D-E52A54D92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005" y="3570974"/>
            <a:ext cx="6843563" cy="1145606"/>
          </a:xfrm>
        </p:spPr>
        <p:txBody>
          <a:bodyPr>
            <a:normAutofit/>
          </a:bodyPr>
          <a:lstStyle/>
          <a:p>
            <a:r>
              <a:rPr lang="en-US" sz="1400" dirty="0"/>
              <a:t>Python • Data cleaning • EDA • Machine Learning • NLP • </a:t>
            </a:r>
            <a:r>
              <a:rPr lang="en-US" sz="1400" dirty="0" err="1"/>
              <a:t>Streamlit</a:t>
            </a:r>
            <a:r>
              <a:rPr lang="en-US" sz="1400" dirty="0"/>
              <a:t> • AWS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Users struggle to find relevant books among thousands of options.</a:t>
            </a:r>
          </a:p>
          <a:p>
            <a:r>
              <a:rPr lang="en-US" sz="1800" dirty="0"/>
              <a:t>Need a system that provides </a:t>
            </a:r>
            <a:r>
              <a:rPr lang="en-US" sz="1800" b="1" dirty="0"/>
              <a:t>personalized, accurate recommendations</a:t>
            </a:r>
            <a:r>
              <a:rPr lang="en-US" sz="1800" dirty="0"/>
              <a:t>.</a:t>
            </a:r>
          </a:p>
          <a:p>
            <a:r>
              <a:rPr lang="en-US" sz="1800" dirty="0"/>
              <a:t>Goal: Build an end-to-end ML-based recommendation system with a </a:t>
            </a:r>
            <a:r>
              <a:rPr lang="en-US" sz="1800" dirty="0" err="1"/>
              <a:t>Streamlit</a:t>
            </a:r>
            <a:r>
              <a:rPr lang="en-US" sz="1800" dirty="0"/>
              <a:t> UI and AWS deployment.</a:t>
            </a:r>
          </a:p>
          <a:p>
            <a:r>
              <a:rPr lang="en-US" sz="1800" dirty="0"/>
              <a:t>The final application will allow users to search for book recommendations using a user-friendly interface deployed with </a:t>
            </a:r>
            <a:r>
              <a:rPr lang="en-US" sz="1800" dirty="0" err="1"/>
              <a:t>Streamlit</a:t>
            </a:r>
            <a:r>
              <a:rPr lang="en-US" sz="1800" dirty="0"/>
              <a:t> and hosted on AWS.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D4BD-C266-7837-DDF7-C8795AD79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56D98-574C-D43E-34D8-680E90E39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Personalized reading experience</a:t>
            </a:r>
          </a:p>
          <a:p>
            <a:r>
              <a:rPr lang="en-US" sz="1800" dirty="0"/>
              <a:t>Improve library/bookstore recommendation engines</a:t>
            </a:r>
          </a:p>
          <a:p>
            <a:r>
              <a:rPr lang="en-IN" sz="1800" dirty="0"/>
              <a:t>Author/publisher market insights</a:t>
            </a:r>
          </a:p>
          <a:p>
            <a:r>
              <a:rPr lang="en-US" sz="1800" dirty="0"/>
              <a:t>Identify trending, underrated, or niche books</a:t>
            </a:r>
          </a:p>
          <a:p>
            <a:r>
              <a:rPr lang="en-US" sz="1800" dirty="0"/>
              <a:t>Engage users with intelligent suggestions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69304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92BA-EF5F-4FBD-E5AE-E50BDF61C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Approach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7466C9A1-D3AA-1DA8-BB44-2F233014E436}"/>
              </a:ext>
            </a:extLst>
          </p:cNvPr>
          <p:cNvSpPr/>
          <p:nvPr/>
        </p:nvSpPr>
        <p:spPr>
          <a:xfrm>
            <a:off x="1117867" y="1600076"/>
            <a:ext cx="145375" cy="1365290"/>
          </a:xfrm>
          <a:prstGeom prst="roundRect">
            <a:avLst>
              <a:gd name="adj" fmla="val 20013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EC6DBFE3-D8F7-2059-7971-FC34085AC26B}"/>
              </a:ext>
            </a:extLst>
          </p:cNvPr>
          <p:cNvSpPr/>
          <p:nvPr/>
        </p:nvSpPr>
        <p:spPr>
          <a:xfrm>
            <a:off x="1820935" y="2898899"/>
            <a:ext cx="145375" cy="1365290"/>
          </a:xfrm>
          <a:prstGeom prst="roundRect">
            <a:avLst>
              <a:gd name="adj" fmla="val 20013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48DCE44A-E1EE-66AC-847D-E12C0DB67010}"/>
              </a:ext>
            </a:extLst>
          </p:cNvPr>
          <p:cNvSpPr/>
          <p:nvPr/>
        </p:nvSpPr>
        <p:spPr>
          <a:xfrm>
            <a:off x="2515748" y="4203478"/>
            <a:ext cx="145375" cy="1365290"/>
          </a:xfrm>
          <a:prstGeom prst="roundRect">
            <a:avLst>
              <a:gd name="adj" fmla="val 20013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D94CFE56-F61F-A6A2-0EB1-50398CF5350D}"/>
              </a:ext>
            </a:extLst>
          </p:cNvPr>
          <p:cNvSpPr/>
          <p:nvPr/>
        </p:nvSpPr>
        <p:spPr>
          <a:xfrm>
            <a:off x="3258049" y="5492710"/>
            <a:ext cx="145375" cy="1365290"/>
          </a:xfrm>
          <a:prstGeom prst="roundRect">
            <a:avLst>
              <a:gd name="adj" fmla="val 20013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B18AB93A-3274-FEF7-7A5A-21748855840A}"/>
              </a:ext>
            </a:extLst>
          </p:cNvPr>
          <p:cNvSpPr/>
          <p:nvPr/>
        </p:nvSpPr>
        <p:spPr>
          <a:xfrm>
            <a:off x="1556215" y="1579799"/>
            <a:ext cx="3286363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Preparation &amp; Cleaning</a:t>
            </a:r>
            <a:endParaRPr lang="en-US" sz="2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B0B1F3F-D13B-EF0C-302D-F24576834980}"/>
              </a:ext>
            </a:extLst>
          </p:cNvPr>
          <p:cNvSpPr/>
          <p:nvPr/>
        </p:nvSpPr>
        <p:spPr>
          <a:xfrm>
            <a:off x="1556215" y="1884644"/>
            <a:ext cx="7350204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datasets based on common attributes like book names and authors. Handle missing data, standardize formats, and remove duplicates to create a clean foundation.</a:t>
            </a:r>
            <a:endParaRPr lang="en-US" sz="15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3E6030C-54B0-A3C0-30CB-EBA2043B212A}"/>
              </a:ext>
            </a:extLst>
          </p:cNvPr>
          <p:cNvSpPr/>
          <p:nvPr/>
        </p:nvSpPr>
        <p:spPr>
          <a:xfrm>
            <a:off x="2268540" y="2898899"/>
            <a:ext cx="2939058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Exploratory Data Analysis</a:t>
            </a:r>
            <a:endParaRPr lang="en-US" sz="20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FE103029-DF17-5EA3-7A7D-88ECEC70B65E}"/>
              </a:ext>
            </a:extLst>
          </p:cNvPr>
          <p:cNvSpPr/>
          <p:nvPr/>
        </p:nvSpPr>
        <p:spPr>
          <a:xfrm>
            <a:off x="2272349" y="3243810"/>
            <a:ext cx="7059335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book genres, ratings distribution, and publication trends. Visualize key insights including popular genres, top-rated books, and other patterns.</a:t>
            </a:r>
            <a:endParaRPr lang="en-US" sz="15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3799C08D-23B3-220C-9ABD-88F341DB4468}"/>
              </a:ext>
            </a:extLst>
          </p:cNvPr>
          <p:cNvSpPr/>
          <p:nvPr/>
        </p:nvSpPr>
        <p:spPr>
          <a:xfrm>
            <a:off x="2968226" y="4249303"/>
            <a:ext cx="3101578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NLP &amp; Model Development</a:t>
            </a:r>
            <a:endParaRPr lang="en-US" sz="20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BCE94F8C-03AB-A15A-0F91-9705D66338C3}"/>
              </a:ext>
            </a:extLst>
          </p:cNvPr>
          <p:cNvSpPr/>
          <p:nvPr/>
        </p:nvSpPr>
        <p:spPr>
          <a:xfrm>
            <a:off x="2981922" y="4590259"/>
            <a:ext cx="869840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NLP techniques to extract features from book titles and descriptions.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recommendation models using content-based filtering, clustering, and hybrid approaches.</a:t>
            </a:r>
            <a:endParaRPr lang="en-US" sz="15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E1160711-6AF2-1F87-8591-3B7AAD2E0BF0}"/>
              </a:ext>
            </a:extLst>
          </p:cNvPr>
          <p:cNvSpPr/>
          <p:nvPr/>
        </p:nvSpPr>
        <p:spPr>
          <a:xfrm>
            <a:off x="3679550" y="5492710"/>
            <a:ext cx="3056096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 &amp; Deployment</a:t>
            </a:r>
            <a:endParaRPr lang="en-US" sz="20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2AEF8CC1-5201-F056-4B58-686697E038AC}"/>
              </a:ext>
            </a:extLst>
          </p:cNvPr>
          <p:cNvSpPr/>
          <p:nvPr/>
        </p:nvSpPr>
        <p:spPr>
          <a:xfrm>
            <a:off x="3679550" y="5850969"/>
            <a:ext cx="787002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 Streamlit interface for users to input preferences and receive recommendations. Deploy the application to AWS for accessibility and scalability.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5758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B8FD-6520-758E-CC1A-1424F98E7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58DA0-35FD-F8E9-5884-09DCB454F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434165"/>
            <a:ext cx="5092166" cy="4641783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IN" sz="2200" b="1" dirty="0">
                <a:solidFill>
                  <a:srgbClr val="C00000"/>
                </a:solidFill>
              </a:rPr>
              <a:t>Audible_Catlog.csv</a:t>
            </a:r>
            <a:endParaRPr lang="en-US" sz="2200" b="1" dirty="0">
              <a:solidFill>
                <a:srgbClr val="C00000"/>
              </a:solidFill>
            </a:endParaRPr>
          </a:p>
          <a:p>
            <a:pPr fontAlgn="base"/>
            <a:r>
              <a:rPr lang="en-US" sz="1900" b="1" dirty="0"/>
              <a:t>Book Name: </a:t>
            </a:r>
            <a:r>
              <a:rPr lang="en-US" sz="1900" dirty="0"/>
              <a:t>Title of the book.</a:t>
            </a:r>
            <a:endParaRPr lang="en-US" sz="1900" b="1" dirty="0"/>
          </a:p>
          <a:p>
            <a:pPr fontAlgn="base"/>
            <a:r>
              <a:rPr lang="en-US" sz="1900" b="1" dirty="0"/>
              <a:t>Author: </a:t>
            </a:r>
            <a:r>
              <a:rPr lang="en-US" sz="1900" dirty="0"/>
              <a:t>Name of the author.</a:t>
            </a:r>
            <a:endParaRPr lang="en-US" sz="1900" b="1" dirty="0"/>
          </a:p>
          <a:p>
            <a:pPr fontAlgn="base"/>
            <a:r>
              <a:rPr lang="en-US" sz="1900" b="1" dirty="0"/>
              <a:t>Rating: </a:t>
            </a:r>
            <a:r>
              <a:rPr lang="en-US" sz="1900" dirty="0"/>
              <a:t>Average rating of the book.</a:t>
            </a:r>
            <a:endParaRPr lang="en-US" sz="1900" b="1" dirty="0"/>
          </a:p>
          <a:p>
            <a:pPr fontAlgn="base"/>
            <a:r>
              <a:rPr lang="en-US" sz="1900" b="1" dirty="0"/>
              <a:t>Number of Reviews: </a:t>
            </a:r>
            <a:r>
              <a:rPr lang="en-US" sz="1900" dirty="0"/>
              <a:t>Count of user reviews.</a:t>
            </a:r>
            <a:endParaRPr lang="en-US" sz="1900" b="1" dirty="0"/>
          </a:p>
          <a:p>
            <a:pPr fontAlgn="base"/>
            <a:r>
              <a:rPr lang="en-US" sz="1900" b="1" dirty="0"/>
              <a:t>Price: </a:t>
            </a:r>
            <a:r>
              <a:rPr lang="en-US" sz="1900" dirty="0"/>
              <a:t>Cost of the book.</a:t>
            </a:r>
            <a:endParaRPr lang="en-US" sz="1900" b="1" dirty="0"/>
          </a:p>
          <a:p>
            <a:pPr fontAlgn="base"/>
            <a:r>
              <a:rPr lang="en-US" sz="1900" b="1" dirty="0"/>
              <a:t>Description: </a:t>
            </a:r>
            <a:r>
              <a:rPr lang="en-US" sz="1900" dirty="0"/>
              <a:t>Brief description or synopsis of the book.</a:t>
            </a:r>
            <a:endParaRPr lang="en-US" sz="1900" b="1" dirty="0"/>
          </a:p>
          <a:p>
            <a:pPr fontAlgn="base"/>
            <a:r>
              <a:rPr lang="en-US" sz="1900" b="1" dirty="0"/>
              <a:t>Listening Time: </a:t>
            </a:r>
            <a:r>
              <a:rPr lang="en-US" sz="1900" dirty="0"/>
              <a:t>For audiobooks, total duration.</a:t>
            </a:r>
            <a:endParaRPr lang="en-US" sz="1900" b="1" dirty="0"/>
          </a:p>
          <a:p>
            <a:r>
              <a:rPr lang="en-US" sz="1900" b="1" dirty="0"/>
              <a:t>Ranks and Genre:</a:t>
            </a:r>
            <a:r>
              <a:rPr lang="en-US" sz="1900" dirty="0"/>
              <a:t> Rankings across various </a:t>
            </a:r>
            <a:r>
              <a:rPr lang="en-US" dirty="0"/>
              <a:t>categories and genres.</a:t>
            </a:r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5C0F4C-2CCC-2020-8A5C-B1EA1D4F7B3A}"/>
              </a:ext>
            </a:extLst>
          </p:cNvPr>
          <p:cNvSpPr txBox="1">
            <a:spLocks/>
          </p:cNvSpPr>
          <p:nvPr/>
        </p:nvSpPr>
        <p:spPr>
          <a:xfrm>
            <a:off x="6583680" y="1366787"/>
            <a:ext cx="5281062" cy="464178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b="1" dirty="0">
                <a:solidFill>
                  <a:srgbClr val="C00000"/>
                </a:solidFill>
              </a:rPr>
              <a:t>Audible_Catlog_Advanced_Features.csv</a:t>
            </a:r>
          </a:p>
          <a:p>
            <a:pPr fontAlgn="base"/>
            <a:r>
              <a:rPr lang="en-US" sz="1800" b="1" dirty="0"/>
              <a:t>Book Name: </a:t>
            </a:r>
            <a:r>
              <a:rPr lang="en-US" sz="1800" dirty="0"/>
              <a:t>Title of the book.</a:t>
            </a:r>
            <a:endParaRPr lang="en-US" sz="1800" b="1" dirty="0"/>
          </a:p>
          <a:p>
            <a:pPr fontAlgn="base"/>
            <a:r>
              <a:rPr lang="en-US" sz="1800" b="1" dirty="0"/>
              <a:t>Author: </a:t>
            </a:r>
            <a:r>
              <a:rPr lang="en-US" sz="1800" dirty="0"/>
              <a:t>Name of the author.</a:t>
            </a:r>
            <a:endParaRPr lang="en-US" sz="1800" b="1" dirty="0"/>
          </a:p>
          <a:p>
            <a:pPr fontAlgn="base"/>
            <a:r>
              <a:rPr lang="en-US" sz="1800" b="1" dirty="0"/>
              <a:t>Rating: </a:t>
            </a:r>
            <a:r>
              <a:rPr lang="en-US" sz="1800" dirty="0"/>
              <a:t>Average rating of the book.</a:t>
            </a:r>
            <a:endParaRPr lang="en-US" sz="1800" b="1" dirty="0"/>
          </a:p>
          <a:p>
            <a:pPr fontAlgn="base"/>
            <a:r>
              <a:rPr lang="en-US" sz="1800" b="1" dirty="0"/>
              <a:t>Number of Reviews: </a:t>
            </a:r>
            <a:r>
              <a:rPr lang="en-US" sz="1800" dirty="0"/>
              <a:t>Count of user reviews.</a:t>
            </a:r>
            <a:endParaRPr lang="en-US" sz="1800" b="1" dirty="0"/>
          </a:p>
          <a:p>
            <a:pPr fontAlgn="base"/>
            <a:r>
              <a:rPr lang="en-US" sz="1800" b="1" dirty="0"/>
              <a:t>Price: </a:t>
            </a:r>
            <a:r>
              <a:rPr lang="en-US" sz="1800" dirty="0"/>
              <a:t>Cost of the book.</a:t>
            </a:r>
            <a:endParaRPr lang="en-US" sz="1800" b="1" dirty="0"/>
          </a:p>
          <a:p>
            <a:pPr marL="0" indent="0" fontAlgn="base">
              <a:buNone/>
            </a:pPr>
            <a:endParaRPr lang="en-US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A02A83-18A0-C992-6F14-4848BADDAADE}"/>
              </a:ext>
            </a:extLst>
          </p:cNvPr>
          <p:cNvCxnSpPr/>
          <p:nvPr/>
        </p:nvCxnSpPr>
        <p:spPr>
          <a:xfrm>
            <a:off x="6353075" y="1366787"/>
            <a:ext cx="0" cy="447574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75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49F47-62F4-C90B-FB13-D2CD830F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&amp;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90C0E-636E-32A6-7477-FBD238EA7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1800" dirty="0"/>
              <a:t>Use two provided datasets containing book information, ratings, and user interactions.</a:t>
            </a:r>
          </a:p>
          <a:p>
            <a:pPr fontAlgn="base"/>
            <a:r>
              <a:rPr lang="en-US" sz="1800" dirty="0"/>
              <a:t>Merge the datasets based on common attributes like book names and authors.</a:t>
            </a:r>
          </a:p>
          <a:p>
            <a:pPr fontAlgn="base"/>
            <a:r>
              <a:rPr lang="en-US" sz="1800" dirty="0"/>
              <a:t>Handle missing or inconsistent data by imputing or removing incomplete records.</a:t>
            </a:r>
          </a:p>
          <a:p>
            <a:pPr fontAlgn="base"/>
            <a:r>
              <a:rPr lang="en-US" sz="1800" dirty="0"/>
              <a:t>Standardize formats for fields like genres and ratings.</a:t>
            </a:r>
          </a:p>
          <a:p>
            <a:pPr fontAlgn="base"/>
            <a:r>
              <a:rPr lang="en-US" sz="1800" dirty="0"/>
              <a:t>Remove duplicate records.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384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A63FA-3161-0359-6067-6E5BBBF0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160C5-2591-803A-6EA0-EDCD73661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1" dirty="0"/>
              <a:t>Genre Analysis - </a:t>
            </a:r>
            <a:r>
              <a:rPr lang="en-US" sz="1800" dirty="0"/>
              <a:t>Identified the most common and popular genres.</a:t>
            </a:r>
            <a:endParaRPr lang="en-US" sz="1800" b="1" dirty="0"/>
          </a:p>
          <a:p>
            <a:r>
              <a:rPr lang="en-US" sz="1800" b="1" dirty="0"/>
              <a:t>Rating Distribution - </a:t>
            </a:r>
            <a:r>
              <a:rPr lang="en-US" sz="1800" dirty="0"/>
              <a:t>Checked how ratings are spread across books.</a:t>
            </a:r>
          </a:p>
          <a:p>
            <a:r>
              <a:rPr lang="en-US" sz="1800" b="1" dirty="0"/>
              <a:t>Review Patterns - </a:t>
            </a:r>
            <a:r>
              <a:rPr lang="en-US" sz="1800" dirty="0"/>
              <a:t>Analyzed how many users reviewed each book.</a:t>
            </a:r>
          </a:p>
          <a:p>
            <a:r>
              <a:rPr lang="en-US" sz="1800" b="1" dirty="0"/>
              <a:t>Price Trends - </a:t>
            </a:r>
            <a:r>
              <a:rPr lang="en-US" sz="1800" dirty="0"/>
              <a:t>Compared price variation across books.</a:t>
            </a:r>
          </a:p>
          <a:p>
            <a:r>
              <a:rPr lang="en-US" sz="1800" b="1" dirty="0"/>
              <a:t>Feature Correlation - </a:t>
            </a:r>
            <a:r>
              <a:rPr lang="en-US" sz="1800" dirty="0"/>
              <a:t>Computed correlations between rating, price, reviews, and text-based features (title/description length).</a:t>
            </a:r>
          </a:p>
          <a:p>
            <a:pPr marL="0" indent="0">
              <a:buNone/>
            </a:pPr>
            <a:r>
              <a:rPr lang="en-US" sz="1800" b="1" dirty="0"/>
              <a:t>Insights that inform the model:</a:t>
            </a:r>
          </a:p>
          <a:p>
            <a:pPr marL="0" indent="0">
              <a:buNone/>
            </a:pPr>
            <a:r>
              <a:rPr lang="en-US" sz="1800" dirty="0"/>
              <a:t>Genres with high popularity are important for </a:t>
            </a:r>
            <a:r>
              <a:rPr lang="en-US" sz="1800" b="1" dirty="0"/>
              <a:t>content-based filtering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Ratings + Reviews help detect </a:t>
            </a:r>
            <a:r>
              <a:rPr lang="en-US" sz="1800" b="1" dirty="0"/>
              <a:t>high-quality &amp; high-engagement books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Sparse rating distribution indicates need for </a:t>
            </a:r>
            <a:r>
              <a:rPr lang="en-US" sz="1800" b="1" dirty="0"/>
              <a:t>hybrid recommendation methods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Text features (NLP) are essential because titles/descriptions carry strong semantic meaning.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57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EC4F-5EA6-08BE-336E-DEA07567E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&amp; Model Development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F0B40-BC76-29A8-A889-5A1F132FE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1800" dirty="0"/>
              <a:t>Apply NLP techniques to extract features from book titles, descriptions, or reviews.</a:t>
            </a:r>
          </a:p>
          <a:p>
            <a:pPr fontAlgn="base"/>
            <a:r>
              <a:rPr lang="en-US" sz="1800" dirty="0"/>
              <a:t>Use clustering algorithms (e.g., K-means or DBSCAN) to group books based on similarities in features.</a:t>
            </a:r>
          </a:p>
          <a:p>
            <a:pPr fontAlgn="base"/>
            <a:r>
              <a:rPr lang="en-US" sz="1800" b="1" dirty="0"/>
              <a:t>Build recommendation models using:</a:t>
            </a:r>
            <a:endParaRPr lang="en-US" sz="1800" dirty="0"/>
          </a:p>
          <a:p>
            <a:pPr lvl="1" fontAlgn="base"/>
            <a:r>
              <a:rPr lang="en-US" sz="1800" dirty="0"/>
              <a:t>Content-Based Filtering (based on book features like genres, descriptions, etc.)</a:t>
            </a:r>
          </a:p>
          <a:p>
            <a:pPr lvl="1" fontAlgn="base"/>
            <a:r>
              <a:rPr lang="en-US" sz="1800" dirty="0"/>
              <a:t>Clustering-Based Recommendations</a:t>
            </a:r>
          </a:p>
          <a:p>
            <a:pPr lvl="1" fontAlgn="base"/>
            <a:r>
              <a:rPr lang="en-US" sz="1800" dirty="0"/>
              <a:t>Hybrid Approaches</a:t>
            </a:r>
          </a:p>
          <a:p>
            <a:pPr lvl="1" fontAlgn="base"/>
            <a:r>
              <a:rPr lang="en-US" sz="1800" dirty="0"/>
              <a:t>Compare these models using evaluation metrics such as precision, recall etc.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0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EE48-FA52-DB7A-58EF-EB9918F5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&amp; Deployment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1ECF3-F720-F89D-8068-621301CA6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Build a user interface using </a:t>
            </a:r>
            <a:r>
              <a:rPr lang="en-US" b="1" dirty="0" err="1"/>
              <a:t>Streamlit</a:t>
            </a:r>
            <a:r>
              <a:rPr lang="en-US" b="1" dirty="0"/>
              <a:t> to:</a:t>
            </a:r>
            <a:endParaRPr lang="en-US" sz="1100" dirty="0"/>
          </a:p>
          <a:p>
            <a:pPr lvl="1" fontAlgn="base"/>
            <a:r>
              <a:rPr lang="en-US" dirty="0"/>
              <a:t>Input user preferences (e.g., favorite genres or books).</a:t>
            </a:r>
            <a:endParaRPr lang="en-US" sz="1000" dirty="0"/>
          </a:p>
          <a:p>
            <a:pPr lvl="1" fontAlgn="base"/>
            <a:r>
              <a:rPr lang="en-US" dirty="0"/>
              <a:t>Display personalized book recommendations.</a:t>
            </a:r>
            <a:endParaRPr lang="en-US" sz="1000" dirty="0"/>
          </a:p>
          <a:p>
            <a:pPr lvl="1" fontAlgn="base"/>
            <a:r>
              <a:rPr lang="en-US" dirty="0"/>
              <a:t>Visualization and EDA.</a:t>
            </a:r>
          </a:p>
          <a:p>
            <a:r>
              <a:rPr lang="en-US" dirty="0"/>
              <a:t>Deploy the application to AWS, ensuring accessibility and scalability.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408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F7F60-B9A3-3FDC-333B-DA185B0DB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6CC6B-9D2E-F5B8-987B-13D2A4E2F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a complete ML-powered recommendation system</a:t>
            </a:r>
          </a:p>
          <a:p>
            <a:r>
              <a:rPr lang="en-US" dirty="0"/>
              <a:t>NLP + Clustering improved recommendation quality</a:t>
            </a:r>
          </a:p>
          <a:p>
            <a:r>
              <a:rPr lang="en-US" dirty="0"/>
              <a:t>User-friendly interactive app deployed online</a:t>
            </a:r>
          </a:p>
          <a:p>
            <a:r>
              <a:rPr lang="en-US" dirty="0"/>
              <a:t>Supports personalization, insights, and business value</a:t>
            </a:r>
          </a:p>
        </p:txBody>
      </p:sp>
    </p:spTree>
    <p:extLst>
      <p:ext uri="{BB962C8B-B14F-4D97-AF65-F5344CB8AC3E}">
        <p14:creationId xmlns:p14="http://schemas.microsoft.com/office/powerpoint/2010/main" val="82216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105</TotalTime>
  <Words>707</Words>
  <Application>Microsoft Office PowerPoint</Application>
  <PresentationFormat>Widescreen</PresentationFormat>
  <Paragraphs>78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DM Sans</vt:lpstr>
      <vt:lpstr>Euphemia</vt:lpstr>
      <vt:lpstr>Plantagenet Cherokee</vt:lpstr>
      <vt:lpstr>PT Serif</vt:lpstr>
      <vt:lpstr>Wingdings</vt:lpstr>
      <vt:lpstr>Academic Literature 16x9</vt:lpstr>
      <vt:lpstr>Audible Insights: Intelligent Book Recommendations </vt:lpstr>
      <vt:lpstr>Problem Statement</vt:lpstr>
      <vt:lpstr>Business Use Cases</vt:lpstr>
      <vt:lpstr>Project Approach</vt:lpstr>
      <vt:lpstr>Datasets Overview</vt:lpstr>
      <vt:lpstr>Data Cleaning &amp; Preprocessing</vt:lpstr>
      <vt:lpstr>Exploratory Data Analysis</vt:lpstr>
      <vt:lpstr>NLP &amp; Model Development</vt:lpstr>
      <vt:lpstr>Application &amp; Deployment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karuna adabala</dc:creator>
  <cp:lastModifiedBy>karuna adabala</cp:lastModifiedBy>
  <cp:revision>3</cp:revision>
  <dcterms:created xsi:type="dcterms:W3CDTF">2025-11-25T08:53:45Z</dcterms:created>
  <dcterms:modified xsi:type="dcterms:W3CDTF">2025-11-25T10:38:46Z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